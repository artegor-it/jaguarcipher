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Montserrat Bold" panose="020B0604020202020204" charset="-52"/>
      <p:regular r:id="rId17"/>
    </p:embeddedFont>
    <p:embeddedFont>
      <p:font typeface="Source Sans 3" panose="020B0604020202020204" charset="0"/>
      <p:regular r:id="rId18"/>
    </p:embeddedFont>
    <p:embeddedFont>
      <p:font typeface="Source Sans 3 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96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6882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2597" y="1245791"/>
            <a:ext cx="4366310" cy="43664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9814" y="2340769"/>
            <a:ext cx="6180181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kern="0" spc="-37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JaguarCipher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719814" y="3007420"/>
            <a:ext cx="6180181" cy="584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18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Разработка программного средства шифрования и дешифрования файлов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19814" y="3900289"/>
            <a:ext cx="6180181" cy="616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Студент: </a:t>
            </a:r>
            <a:r>
              <a:rPr lang="en-US" sz="16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Теребов Е.В.</a:t>
            </a: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Группа: </a:t>
            </a:r>
            <a:r>
              <a:rPr lang="en-US" sz="16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ИСП-324п</a:t>
            </a: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Руководитель: </a:t>
            </a:r>
            <a:r>
              <a:rPr lang="en-US" sz="16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Кулькова С.Н.</a:t>
            </a: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ru-RU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15" y="1229717"/>
            <a:ext cx="4398456" cy="43985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91700" y="589756"/>
            <a:ext cx="6180181" cy="985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kern="0" spc="-3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Актуальность и цель проекта</a:t>
            </a:r>
            <a:endParaRPr lang="en-US" sz="3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1700" y="1795165"/>
            <a:ext cx="6180181" cy="143926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60477" y="1987748"/>
            <a:ext cx="5718826" cy="246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16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Проблема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5560477" y="2322116"/>
            <a:ext cx="5718826" cy="7197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Штатные средства ОС обеспечивают недостаточную защиту. VeraCrypt и 7-Zip сложны для неподготовленных пользователей — избыточный интерфейс и множество настроек.</a:t>
            </a:r>
            <a:endParaRPr lang="en-US" sz="13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1700" y="3380780"/>
            <a:ext cx="6180181" cy="119935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560477" y="3573363"/>
            <a:ext cx="5718826" cy="246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16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Цель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5560477" y="3907730"/>
            <a:ext cx="5718826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Создать простое и надёжное средство защиты файлов на локальном ПК, доступное пользователям без специальной подготовки.</a:t>
            </a:r>
            <a:endParaRPr lang="en-US" sz="13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91700" y="4726484"/>
            <a:ext cx="6180181" cy="154166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560477" y="4919067"/>
            <a:ext cx="5718826" cy="246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16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Задачи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5560477" y="5253434"/>
            <a:ext cx="5718826" cy="822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Реализовать алгоритм AES-256</a:t>
            </a:r>
            <a:endParaRPr lang="en-US" sz="1350" dirty="0"/>
          </a:p>
          <a:p>
            <a:pPr marL="274320" indent="-274320" algn="l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Разработать удобный GUI</a:t>
            </a:r>
            <a:endParaRPr lang="en-US" sz="1350" dirty="0"/>
          </a:p>
          <a:p>
            <a:pPr marL="274320" indent="-274320" algn="l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Обеспечить встроенную справку (F1)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4" y="1122164"/>
            <a:ext cx="4562361" cy="319613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90361" y="1681956"/>
            <a:ext cx="5687771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kern="0" spc="-37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ТЗ — Общие сведения</a:t>
            </a:r>
            <a:endParaRPr lang="en-US" sz="3650" dirty="0"/>
          </a:p>
        </p:txBody>
      </p:sp>
      <p:sp>
        <p:nvSpPr>
          <p:cNvPr id="6" name="Text 3"/>
          <p:cNvSpPr/>
          <p:nvPr/>
        </p:nvSpPr>
        <p:spPr>
          <a:xfrm>
            <a:off x="5790361" y="2472035"/>
            <a:ext cx="5687771" cy="1727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spcAft>
                <a:spcPts val="1450"/>
              </a:spcAft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Техническое задание разработано в соответствии с требованиями </a:t>
            </a:r>
            <a:r>
              <a:rPr lang="en-US" sz="16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ГОСТ 34.602-2020</a:t>
            </a: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«Техническое задание на создание автоматизированной системы».</a:t>
            </a: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Документ определяет функциональные требования, криптографические параметры и этапы разработки.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19814" y="4781054"/>
            <a:ext cx="5273146" cy="118616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50889" y="5012134"/>
            <a:ext cx="4810997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18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Срок начала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50889" y="5427663"/>
            <a:ext cx="4810997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08.09.2026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198636" y="4781054"/>
            <a:ext cx="5273245" cy="118616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29710" y="5012134"/>
            <a:ext cx="4811096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18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Срок окончания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429710" y="5427663"/>
            <a:ext cx="4811096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17.09.2026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16148"/>
            <a:ext cx="10752067" cy="52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kern="0" spc="-33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Функциональные возможности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719814" y="1462782"/>
            <a:ext cx="11361652" cy="259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Согласно разделу 4.1 ТЗ, JaguarCipher реализует следующий набор функций: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19814" y="1905893"/>
            <a:ext cx="3475248" cy="2216448"/>
          </a:xfrm>
          <a:prstGeom prst="roundRect">
            <a:avLst>
              <a:gd name="adj" fmla="val 1240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902967" y="2089051"/>
            <a:ext cx="549559" cy="549573"/>
          </a:xfrm>
          <a:prstGeom prst="ellipse">
            <a:avLst/>
          </a:prstGeom>
          <a:solidFill>
            <a:srgbClr val="2D2E3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4074" y="2240161"/>
            <a:ext cx="247247" cy="24725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02967" y="2801739"/>
            <a:ext cx="3108942" cy="520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16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Шифрование / Дешифрование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02967" y="3419872"/>
            <a:ext cx="3108942" cy="519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Обработка файлов с формированием выходного расширения </a:t>
            </a:r>
            <a:r>
              <a:rPr lang="en-US" sz="14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.enc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58174" y="1905893"/>
            <a:ext cx="3475248" cy="2216448"/>
          </a:xfrm>
          <a:prstGeom prst="roundRect">
            <a:avLst>
              <a:gd name="adj" fmla="val 1240"/>
            </a:avLst>
          </a:prstGeom>
          <a:solidFill>
            <a:srgbClr val="F2EEEE"/>
          </a:solidFill>
          <a:ln/>
        </p:spPr>
      </p:sp>
      <p:sp>
        <p:nvSpPr>
          <p:cNvPr id="10" name="Shape 7"/>
          <p:cNvSpPr/>
          <p:nvPr/>
        </p:nvSpPr>
        <p:spPr>
          <a:xfrm>
            <a:off x="4541327" y="2089051"/>
            <a:ext cx="549559" cy="549573"/>
          </a:xfrm>
          <a:prstGeom prst="ellipse">
            <a:avLst/>
          </a:prstGeom>
          <a:solidFill>
            <a:srgbClr val="2D2E34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2433" y="2240161"/>
            <a:ext cx="247247" cy="24725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41327" y="2801739"/>
            <a:ext cx="3108942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16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Текст и файлы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41327" y="3159720"/>
            <a:ext cx="3108942" cy="778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Поддержка работы как с текстовыми данными, так и с произвольными файлами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996534" y="1905893"/>
            <a:ext cx="3475248" cy="2216448"/>
          </a:xfrm>
          <a:prstGeom prst="roundRect">
            <a:avLst>
              <a:gd name="adj" fmla="val 1240"/>
            </a:avLst>
          </a:prstGeom>
          <a:solidFill>
            <a:srgbClr val="F2EE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179687" y="2089051"/>
            <a:ext cx="549559" cy="549573"/>
          </a:xfrm>
          <a:prstGeom prst="ellipse">
            <a:avLst/>
          </a:prstGeom>
          <a:solidFill>
            <a:srgbClr val="2D2E34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30793" y="2240161"/>
            <a:ext cx="247247" cy="24725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79687" y="2801739"/>
            <a:ext cx="3108942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16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Маскировка пароля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179687" y="3159720"/>
            <a:ext cx="3108942" cy="519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Безопасный ввод пароля со скрытием символов на экране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719814" y="4285456"/>
            <a:ext cx="5294378" cy="1956296"/>
          </a:xfrm>
          <a:prstGeom prst="roundRect">
            <a:avLst>
              <a:gd name="adj" fmla="val 1405"/>
            </a:avLst>
          </a:prstGeom>
          <a:solidFill>
            <a:srgbClr val="F2EEEE"/>
          </a:solidFill>
          <a:ln/>
        </p:spPr>
      </p:sp>
      <p:sp>
        <p:nvSpPr>
          <p:cNvPr id="20" name="Shape 15"/>
          <p:cNvSpPr/>
          <p:nvPr/>
        </p:nvSpPr>
        <p:spPr>
          <a:xfrm>
            <a:off x="902967" y="4468614"/>
            <a:ext cx="549559" cy="549573"/>
          </a:xfrm>
          <a:prstGeom prst="ellipse">
            <a:avLst/>
          </a:prstGeom>
          <a:solidFill>
            <a:srgbClr val="2D2E34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54074" y="4619724"/>
            <a:ext cx="247247" cy="24725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2967" y="5181302"/>
            <a:ext cx="4928072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16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Управление буфером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02967" y="5539284"/>
            <a:ext cx="4928072" cy="519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Кнопки: </a:t>
            </a:r>
            <a:r>
              <a:rPr lang="en-US" sz="14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Вставить, Копировать, Очистить</a:t>
            </a:r>
            <a:r>
              <a:rPr lang="en-US" sz="14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для удобства работы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6177304" y="4285456"/>
            <a:ext cx="5294478" cy="1956296"/>
          </a:xfrm>
          <a:prstGeom prst="roundRect">
            <a:avLst>
              <a:gd name="adj" fmla="val 1405"/>
            </a:avLst>
          </a:prstGeom>
          <a:solidFill>
            <a:srgbClr val="F2EEEE"/>
          </a:solidFill>
          <a:ln/>
        </p:spPr>
      </p:sp>
      <p:sp>
        <p:nvSpPr>
          <p:cNvPr id="25" name="Shape 19"/>
          <p:cNvSpPr/>
          <p:nvPr/>
        </p:nvSpPr>
        <p:spPr>
          <a:xfrm>
            <a:off x="6360457" y="4468614"/>
            <a:ext cx="549559" cy="549573"/>
          </a:xfrm>
          <a:prstGeom prst="ellipse">
            <a:avLst/>
          </a:prstGeom>
          <a:solidFill>
            <a:srgbClr val="2D2E34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11564" y="4619724"/>
            <a:ext cx="247247" cy="24725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360457" y="5181302"/>
            <a:ext cx="4928171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16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Справка F1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6360457" y="5539284"/>
            <a:ext cx="4928171" cy="519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Встроенная контекстная справка, вызываемая клавишей </a:t>
            </a:r>
            <a:r>
              <a:rPr lang="en-US" sz="14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F1 или соответствующей кнопкой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19323"/>
            <a:ext cx="10752067" cy="465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kern="0" spc="-29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Криптографические алгоритмы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19814" y="1411387"/>
            <a:ext cx="6291304" cy="745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kern="0" spc="-23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Режим работы с текстом — 6 классических алгоритмов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19814" y="2303463"/>
            <a:ext cx="3080367" cy="950119"/>
          </a:xfrm>
          <a:prstGeom prst="roundRect">
            <a:avLst>
              <a:gd name="adj" fmla="val 2588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02769" y="2486422"/>
            <a:ext cx="2714458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15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Цезарь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02769" y="2849761"/>
            <a:ext cx="2714458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Числовой сдвиг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930750" y="2303463"/>
            <a:ext cx="3080367" cy="950119"/>
          </a:xfrm>
          <a:prstGeom prst="roundRect">
            <a:avLst>
              <a:gd name="adj" fmla="val 2588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3705" y="2486422"/>
            <a:ext cx="2714458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15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Виженер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113705" y="2849761"/>
            <a:ext cx="2714458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Полиалфавитная замена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19814" y="3384153"/>
            <a:ext cx="3080367" cy="950119"/>
          </a:xfrm>
          <a:prstGeom prst="roundRect">
            <a:avLst>
              <a:gd name="adj" fmla="val 2588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2769" y="3567112"/>
            <a:ext cx="2714458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15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Атбаш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02769" y="3930452"/>
            <a:ext cx="2714458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Обратный алфавит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930750" y="3384153"/>
            <a:ext cx="3080367" cy="950119"/>
          </a:xfrm>
          <a:prstGeom prst="roundRect">
            <a:avLst>
              <a:gd name="adj" fmla="val 2588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3705" y="3567112"/>
            <a:ext cx="2714458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15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Бофор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113705" y="3930452"/>
            <a:ext cx="2714458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Полиалфавитное преобразование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19814" y="4464844"/>
            <a:ext cx="3080367" cy="950119"/>
          </a:xfrm>
          <a:prstGeom prst="roundRect">
            <a:avLst>
              <a:gd name="adj" fmla="val 2588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2769" y="4647803"/>
            <a:ext cx="2714458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15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Тритемий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02769" y="5011142"/>
            <a:ext cx="2714458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Изменяющийся сдвиг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930750" y="4464844"/>
            <a:ext cx="3080367" cy="950119"/>
          </a:xfrm>
          <a:prstGeom prst="roundRect">
            <a:avLst>
              <a:gd name="adj" fmla="val 2588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3705" y="4647803"/>
            <a:ext cx="2714458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15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Вернам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113705" y="5011142"/>
            <a:ext cx="2714458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Учебный потоковый шифр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19814" y="5561905"/>
            <a:ext cx="6291304" cy="559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Ключ:</a:t>
            </a:r>
            <a:r>
              <a:rPr lang="en-US" sz="12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числовой сдвиг или ключевое слово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Алфавит:</a:t>
            </a:r>
            <a:r>
              <a:rPr lang="en-US" sz="12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русский, 33 буквы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17309" y="1411387"/>
            <a:ext cx="4060922" cy="745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kern="0" spc="-23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Режим работы с файлами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7417309" y="2287091"/>
            <a:ext cx="4060922" cy="883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Использует те же алгоритмы, что и при работе с обычным текстом, но обработкой byte[], а также используется инструментарий </a:t>
            </a:r>
            <a:r>
              <a:rPr lang="en-US" sz="125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.NET System.Security.Cryptography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5936" y="740172"/>
            <a:ext cx="3783414" cy="53775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82473" y="1919883"/>
            <a:ext cx="5195758" cy="839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kern="0" spc="-26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НПД — Технологический стек</a:t>
            </a:r>
            <a:endParaRPr lang="en-US" sz="2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37836" y="2883892"/>
            <a:ext cx="221748" cy="22175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62878" y="2879328"/>
            <a:ext cx="4715352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13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Платформа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762878" y="3195439"/>
            <a:ext cx="47153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15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.NET MAUI</a:t>
            </a: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кроссплатформенный фреймворк для создания десктопных приложений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37836" y="3793430"/>
            <a:ext cx="221748" cy="22175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762878" y="3788866"/>
            <a:ext cx="4715352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13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Язык программирования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6762878" y="4104977"/>
            <a:ext cx="471535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15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C#</a:t>
            </a: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строго типизированный объектно-ориентированный язык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37836" y="4512469"/>
            <a:ext cx="221748" cy="22175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62878" y="4507905"/>
            <a:ext cx="4715352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13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Криптобиблиотека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6762878" y="4824016"/>
            <a:ext cx="47153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15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System.Security.Cryptography</a:t>
            </a: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штатный пакет .NET для криптографических операций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77850"/>
            <a:ext cx="10752067" cy="392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kern="0" spc="-25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Этапы разработки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719814" y="1156097"/>
            <a:ext cx="1136165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Согласно разделу 5.1 ТЗ, работа выполнялась в следующие сроки: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086323" y="1433711"/>
            <a:ext cx="19050" cy="4568726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5" name="Shape 3"/>
          <p:cNvSpPr/>
          <p:nvPr/>
        </p:nvSpPr>
        <p:spPr>
          <a:xfrm>
            <a:off x="5544949" y="1579563"/>
            <a:ext cx="414526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6" name="Shape 4"/>
          <p:cNvSpPr/>
          <p:nvPr/>
        </p:nvSpPr>
        <p:spPr>
          <a:xfrm>
            <a:off x="5940425" y="1433711"/>
            <a:ext cx="310845" cy="310852"/>
          </a:xfrm>
          <a:prstGeom prst="roundRect">
            <a:avLst>
              <a:gd name="adj" fmla="val 6669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6001592" y="1471315"/>
            <a:ext cx="188412" cy="2355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kern="0" spc="-15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19814" y="1481137"/>
            <a:ext cx="4685091" cy="196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b="1" kern="0" spc="-12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ТЗ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9814" y="1733054"/>
            <a:ext cx="468509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08.09–09.09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32220" y="2317948"/>
            <a:ext cx="414526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0425" y="2172097"/>
            <a:ext cx="310845" cy="310852"/>
          </a:xfrm>
          <a:prstGeom prst="roundRect">
            <a:avLst>
              <a:gd name="adj" fmla="val 6669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6001592" y="2209701"/>
            <a:ext cx="188412" cy="2355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kern="0" spc="-15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786790" y="2219523"/>
            <a:ext cx="4685091" cy="196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12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Алгоритмы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86790" y="2471440"/>
            <a:ext cx="468509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09.09–11.09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544949" y="2987278"/>
            <a:ext cx="414526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0425" y="2841427"/>
            <a:ext cx="310845" cy="310852"/>
          </a:xfrm>
          <a:prstGeom prst="roundRect">
            <a:avLst>
              <a:gd name="adj" fmla="val 6669"/>
            </a:avLst>
          </a:prstGeom>
          <a:solidFill>
            <a:srgbClr val="F2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6001592" y="2879030"/>
            <a:ext cx="188412" cy="2355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kern="0" spc="-15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19814" y="2888853"/>
            <a:ext cx="4685091" cy="196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b="1" kern="0" spc="-12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Ядро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9814" y="3140770"/>
            <a:ext cx="468509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11.09–12.09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32220" y="3656608"/>
            <a:ext cx="414526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0425" y="3510756"/>
            <a:ext cx="310845" cy="310852"/>
          </a:xfrm>
          <a:prstGeom prst="roundRect">
            <a:avLst>
              <a:gd name="adj" fmla="val 6669"/>
            </a:avLst>
          </a:prstGeom>
          <a:solidFill>
            <a:srgbClr val="F2EEEE"/>
          </a:solidFill>
          <a:ln/>
        </p:spPr>
      </p:sp>
      <p:sp>
        <p:nvSpPr>
          <p:cNvPr id="22" name="Text 20"/>
          <p:cNvSpPr/>
          <p:nvPr/>
        </p:nvSpPr>
        <p:spPr>
          <a:xfrm>
            <a:off x="6001592" y="3548360"/>
            <a:ext cx="188412" cy="2355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kern="0" spc="-15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786790" y="3558183"/>
            <a:ext cx="4685091" cy="196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12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GUI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86790" y="3810099"/>
            <a:ext cx="468509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12.09–14.10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544949" y="4325938"/>
            <a:ext cx="414526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0425" y="4180086"/>
            <a:ext cx="310845" cy="310852"/>
          </a:xfrm>
          <a:prstGeom prst="roundRect">
            <a:avLst>
              <a:gd name="adj" fmla="val 6669"/>
            </a:avLst>
          </a:prstGeom>
          <a:solidFill>
            <a:srgbClr val="F2EEEE"/>
          </a:solidFill>
          <a:ln/>
        </p:spPr>
      </p:sp>
      <p:sp>
        <p:nvSpPr>
          <p:cNvPr id="27" name="Text 25"/>
          <p:cNvSpPr/>
          <p:nvPr/>
        </p:nvSpPr>
        <p:spPr>
          <a:xfrm>
            <a:off x="6001592" y="4217690"/>
            <a:ext cx="188412" cy="2355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kern="0" spc="-15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19814" y="4227513"/>
            <a:ext cx="4685091" cy="196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b="1" kern="0" spc="-12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Тесты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9814" y="4479429"/>
            <a:ext cx="468509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14.09–15.09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32220" y="4995267"/>
            <a:ext cx="414526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31" name="Shape 29"/>
          <p:cNvSpPr/>
          <p:nvPr/>
        </p:nvSpPr>
        <p:spPr>
          <a:xfrm>
            <a:off x="5940425" y="4849416"/>
            <a:ext cx="310845" cy="310852"/>
          </a:xfrm>
          <a:prstGeom prst="roundRect">
            <a:avLst>
              <a:gd name="adj" fmla="val 6669"/>
            </a:avLst>
          </a:prstGeom>
          <a:solidFill>
            <a:srgbClr val="F2EEEE"/>
          </a:solidFill>
          <a:ln/>
        </p:spPr>
      </p:sp>
      <p:sp>
        <p:nvSpPr>
          <p:cNvPr id="32" name="Text 30"/>
          <p:cNvSpPr/>
          <p:nvPr/>
        </p:nvSpPr>
        <p:spPr>
          <a:xfrm>
            <a:off x="6001592" y="4887020"/>
            <a:ext cx="188412" cy="2355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kern="0" spc="-15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6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786790" y="4896842"/>
            <a:ext cx="4685091" cy="196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12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Документация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86790" y="5148759"/>
            <a:ext cx="468509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15.09–16.09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19814" y="6106815"/>
            <a:ext cx="1136165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Общий срок разработки — </a:t>
            </a:r>
            <a:r>
              <a:rPr lang="en-US" sz="105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9 дней</a:t>
            </a: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Каждый этап завершался контрольной проверкой соответствия требованиям ТЗ.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35496"/>
            <a:ext cx="10752067" cy="337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kern="0" spc="-2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Экономическая часть</a:t>
            </a:r>
            <a:endParaRPr lang="en-US" sz="2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4" y="1092200"/>
            <a:ext cx="3084138" cy="432554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912146" y="1087970"/>
            <a:ext cx="7667929" cy="4329772"/>
          </a:xfrm>
          <a:prstGeom prst="roundRect">
            <a:avLst>
              <a:gd name="adj" fmla="val 398"/>
            </a:avLst>
          </a:prstGeom>
          <a:solidFill>
            <a:srgbClr val="2D2E34"/>
          </a:solidFill>
          <a:ln/>
        </p:spPr>
      </p:sp>
      <p:sp>
        <p:nvSpPr>
          <p:cNvPr id="5" name="Text 2"/>
          <p:cNvSpPr/>
          <p:nvPr/>
        </p:nvSpPr>
        <p:spPr>
          <a:xfrm>
            <a:off x="4139203" y="1267955"/>
            <a:ext cx="5164504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0" spc="-1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Экономическая оценка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139203" y="1505484"/>
            <a:ext cx="5164504" cy="28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Проект является </a:t>
            </a:r>
            <a:r>
              <a:rPr lang="en-US" sz="90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рабочим</a:t>
            </a:r>
            <a:r>
              <a:rPr lang="en-US" sz="9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Все использованные инструменты имеют лицензию Open Source и распространяются бесплатно.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19814" y="5633839"/>
            <a:ext cx="3538251" cy="588566"/>
          </a:xfrm>
          <a:prstGeom prst="roundRect">
            <a:avLst>
              <a:gd name="adj" fmla="val 3031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838675" y="5752703"/>
            <a:ext cx="3300528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0" spc="-1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.NET MAUI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38675" y="5962749"/>
            <a:ext cx="3300528" cy="14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Бесплатно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326722" y="5633839"/>
            <a:ext cx="3538251" cy="588566"/>
          </a:xfrm>
          <a:prstGeom prst="roundRect">
            <a:avLst>
              <a:gd name="adj" fmla="val 3031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4445583" y="5752703"/>
            <a:ext cx="3300528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0" spc="-1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Visual Studio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445583" y="5962749"/>
            <a:ext cx="3300528" cy="14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Community Edition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933630" y="5633839"/>
            <a:ext cx="3538251" cy="588566"/>
          </a:xfrm>
          <a:prstGeom prst="roundRect">
            <a:avLst>
              <a:gd name="adj" fmla="val 3031"/>
            </a:avLst>
          </a:prstGeom>
          <a:solidFill>
            <a:srgbClr val="F2EEEE"/>
          </a:solidFill>
          <a:ln/>
        </p:spPr>
      </p:sp>
      <p:sp>
        <p:nvSpPr>
          <p:cNvPr id="14" name="Text 11"/>
          <p:cNvSpPr/>
          <p:nvPr/>
        </p:nvSpPr>
        <p:spPr>
          <a:xfrm>
            <a:off x="8052492" y="5752703"/>
            <a:ext cx="3300528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0" spc="-1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Затраты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052492" y="5962749"/>
            <a:ext cx="3300528" cy="14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Только время студента</a:t>
            </a:r>
            <a:endParaRPr lang="en-US" sz="900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ABE23CA8-7D56-430C-8EC4-1565393200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9203" y="1934437"/>
            <a:ext cx="4599257" cy="32198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20316"/>
            <a:ext cx="10752067" cy="1004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kern="0" spc="-32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Демонстрация работы приложения и документация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719814" y="1685330"/>
            <a:ext cx="10752067" cy="25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16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Видео-демонстрация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19814" y="2164259"/>
            <a:ext cx="11361652" cy="246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3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Полная демонстрация работы JaguarCipher доступна по QR-коду: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9814" y="2752527"/>
            <a:ext cx="4593416" cy="1534220"/>
          </a:xfrm>
          <a:prstGeom prst="roundRect">
            <a:avLst>
              <a:gd name="adj" fmla="val 1728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5568" y="2948285"/>
            <a:ext cx="4201908" cy="25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16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GitHub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15568" y="3351312"/>
            <a:ext cx="4201908" cy="7396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3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Исходный код проекта, документация, билды, демонстрация работы и всё остальное относящееся к продукту.</a:t>
            </a:r>
            <a:endParaRPr lang="en-US" sz="13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1603" y="1997175"/>
            <a:ext cx="3314220" cy="331430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88" y="1245791"/>
            <a:ext cx="4366310" cy="43664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91700" y="1389757"/>
            <a:ext cx="6180181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kern="0" spc="-37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JaguarCipher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5291700" y="2056408"/>
            <a:ext cx="6180181" cy="584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18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Разработка программного средства шифрования и дешифрования файлов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291700" y="2949277"/>
            <a:ext cx="6180181" cy="1156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Студент: </a:t>
            </a:r>
            <a:r>
              <a:rPr lang="en-US" sz="16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Теребов Е.В.</a:t>
            </a: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Группа: </a:t>
            </a:r>
            <a:r>
              <a:rPr lang="en-US" sz="16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ИСП-324п</a:t>
            </a:r>
            <a:endParaRPr lang="en-US" sz="1600" dirty="0"/>
          </a:p>
          <a:p>
            <a:pPr marL="0" indent="0" algn="l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Руководитель: </a:t>
            </a:r>
            <a:r>
              <a:rPr lang="en-US" sz="16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Кулькова С.Н.</a:t>
            </a: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2026 </a:t>
            </a:r>
            <a:r>
              <a:rPr lang="en-US" sz="16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© все права защищены ИП "Jaguar"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291700" y="4388842"/>
            <a:ext cx="6180181" cy="25400"/>
          </a:xfrm>
          <a:prstGeom prst="roundRect">
            <a:avLst>
              <a:gd name="adj" fmla="val 49999"/>
            </a:avLst>
          </a:prstGeom>
          <a:solidFill>
            <a:srgbClr val="3D3838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5600163" y="4928394"/>
            <a:ext cx="6481303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Спасибо за внимание! Готов к вопросам.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291700" y="4697016"/>
            <a:ext cx="25399" cy="771227"/>
          </a:xfrm>
          <a:prstGeom prst="roundRect">
            <a:avLst>
              <a:gd name="adj" fmla="val 50001"/>
            </a:avLst>
          </a:prstGeom>
          <a:solidFill>
            <a:srgbClr val="2D2E3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471</Words>
  <Application>Microsoft Office PowerPoint</Application>
  <PresentationFormat>Широкоэкранный</PresentationFormat>
  <Paragraphs>108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Calibri</vt:lpstr>
      <vt:lpstr>Source Sans 3</vt:lpstr>
      <vt:lpstr>Montserrat Bold</vt:lpstr>
      <vt:lpstr>Arial</vt:lpstr>
      <vt:lpstr>Source Sans 3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IT Egor</cp:lastModifiedBy>
  <cp:revision>4</cp:revision>
  <dcterms:created xsi:type="dcterms:W3CDTF">2026-09-17T08:04:43Z</dcterms:created>
  <dcterms:modified xsi:type="dcterms:W3CDTF">2026-09-17T08:20:19Z</dcterms:modified>
</cp:coreProperties>
</file>